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F84C9-3430-1155-803A-6F60F4FFF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EADFC5-D089-6E95-E9D6-FCF715F45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D3DFB7-8D0B-9E08-65F4-5A44C273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2796AD-E892-DD9F-E0CA-0F7BB3F3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42753-2A17-E6D6-9566-D60E4555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42190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8AF35-6193-1E1A-AF0B-E9403F72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302577-151A-C8E7-5DE3-B47760F4A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BFC87F-817E-63E3-FEB2-15A5FE51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4D5112-D15C-D305-0443-41D4F296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0FDC01-50E5-23AC-F349-6CA9E8E3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1757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A99AD-9302-E326-7A5F-5C80B2E85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333FF9-433B-5585-8D1B-F5CA278E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81792-8E12-BB78-44DC-E23FCF83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57948-9FB9-0A5C-8D06-650FD13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AD50BA-8537-CB00-37D9-D88348D6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3197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912C-2E72-CB63-C8B1-6411BB83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3B72F8-7CE5-DAE2-B28A-9467912B3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A838F6-5E85-2043-9991-A90079968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6A1D4E-E2F6-E212-2DED-C3B17377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90F661-D843-8786-5A40-219D845B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695BE2-A7AF-6AD4-42E0-4EB1D0A3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7852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026C4-4F0C-6304-2E0F-552889D4B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DAA751-A45E-CFA6-4E3D-1DF84BB32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3D3257-301F-BFE2-6F49-A36E595C8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66B961-7AD8-C0EF-2550-123FC4D03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5C23D8-C8FA-D178-E0A1-B8F1FED03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33696F-9C80-B0E5-754E-E4E51F0A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BA9882-F38C-A962-5094-DF92A7F3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56D51E-AF47-2EBE-6020-4550522C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84001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8972-B383-DCA1-B19D-D02033AA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44CCAE-E90F-BBA5-A8E1-C695C633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0EB84-8F03-E8B2-20A8-669AF85A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2FABF8-9EC9-F61E-3B1D-7643F335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3124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B8B04F-DA12-D4A4-7A48-C1D465B8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1EEE1B-A096-41A4-8734-404D7AE5B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00E889-B440-330C-8C5E-4C90D2FB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4191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A9819-116D-9335-0638-94FD1A34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8FD26-F427-A2FB-01B3-BBFE370D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26412C-144D-ECD5-1D6C-B70ABB414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71BEE-A18A-8730-F57F-B85E6DFE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358B75-E872-1128-E684-3C31C229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608BE3-F1EC-E8F3-C451-92032A0B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48925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80A30-1A80-A710-8CF8-959FB484D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B61936-F128-7DB8-F98C-8944C7F18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3236F9-FECA-A635-0119-3A3D43BF0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29C339-7471-9552-B8B2-D8B81E27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4ABBB4-B6C0-B8F3-D803-381D7B42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DD66A9-CC0A-B359-9B8D-F7CAB17A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14030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56D45-57C7-3B8F-2CEE-96D00375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536F37-CD61-69AE-A9AB-63DBE66E7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55046C-CF58-176D-7F39-62E9D375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A8DEC-0EBA-1741-DCF9-539FFB65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8044D5-9C68-145F-FA7F-7F152B51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4245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E96507-77E8-4CC2-0262-CC30EA1BB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EF31D4-999D-99DC-87B6-B26B22ABC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02AB5E-27AD-3DEA-FF97-8E9A4C63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8A2E32-2253-F85C-737A-1B200621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4C26D6-9062-0D57-BA6A-E0F8BFF1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4418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89C3CD-9847-DE2C-3788-D678CD0F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36EAB2-104E-26A4-9239-4C6B2D692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9F533D-5B98-333D-58E2-4D7A6C7E7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89E82F-9C0B-4481-4A58-4382486B1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34B151-1208-1404-7299-B389D0778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C36F-4504-47C0-B82F-A167342A27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73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90ED41D3-136E-3915-105A-17EA1DE190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0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F1A34DB-EDBB-37FC-5F38-BED78F9A4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3984" y="2285466"/>
            <a:ext cx="3896139" cy="1570916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t">
            <a:normAutofit fontScale="90000"/>
          </a:bodyPr>
          <a:lstStyle/>
          <a:p>
            <a:pPr algn="ctr"/>
            <a:r>
              <a:rPr lang="es-MX" sz="5400" b="1" dirty="0">
                <a:solidFill>
                  <a:srgbClr val="7030A0"/>
                </a:solidFill>
              </a:rPr>
              <a:t>Concepto de </a:t>
            </a:r>
            <a:br>
              <a:rPr lang="es-MX" sz="5400" b="1" dirty="0">
                <a:solidFill>
                  <a:srgbClr val="7030A0"/>
                </a:solidFill>
              </a:rPr>
            </a:br>
            <a:r>
              <a:rPr lang="es-MX" sz="5400" b="1" dirty="0">
                <a:solidFill>
                  <a:srgbClr val="7030A0"/>
                </a:solidFill>
              </a:rPr>
              <a:t>Valor</a:t>
            </a:r>
            <a:endParaRPr lang="es-DO" b="1" dirty="0">
              <a:solidFill>
                <a:srgbClr val="7030A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1CBD56-606A-21CA-7AE3-1A2E40AB7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4162" y="5419062"/>
            <a:ext cx="2491404" cy="628373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>
            <a:normAutofit/>
          </a:bodyPr>
          <a:lstStyle/>
          <a:p>
            <a:r>
              <a:rPr lang="es-MX" sz="2000" b="1" dirty="0">
                <a:solidFill>
                  <a:srgbClr val="7030A0"/>
                </a:solidFill>
              </a:rPr>
              <a:t>Israel Peralta</a:t>
            </a:r>
            <a:r>
              <a:rPr lang="es-DO" sz="2000" b="1" dirty="0">
                <a:solidFill>
                  <a:srgbClr val="7030A0"/>
                </a:solidFill>
              </a:rPr>
              <a:t>, MA. </a:t>
            </a:r>
            <a:endParaRPr lang="es-MX" sz="2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432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134A4553-0D42-F276-C614-02C82CC2A046}"/>
              </a:ext>
            </a:extLst>
          </p:cNvPr>
          <p:cNvSpPr txBox="1"/>
          <p:nvPr/>
        </p:nvSpPr>
        <p:spPr>
          <a:xfrm>
            <a:off x="1294623" y="2021863"/>
            <a:ext cx="9042073" cy="517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720BE2-50DF-CAC4-6127-B2C5B59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1/23/2023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E2D55-723A-E350-40E1-9CB0DB2A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endParaRPr lang="en-US" sz="1050" b="1" kern="1200" cap="all" spc="300" baseline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4332D6-7AEC-D399-3AB1-C19A0FD4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B463D6-EC5E-5761-E83C-219DBB6DD970}"/>
              </a:ext>
            </a:extLst>
          </p:cNvPr>
          <p:cNvSpPr txBox="1"/>
          <p:nvPr/>
        </p:nvSpPr>
        <p:spPr>
          <a:xfrm>
            <a:off x="940903" y="540573"/>
            <a:ext cx="3750366" cy="5232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DO" sz="2800" b="1" dirty="0">
                <a:latin typeface="Abadi" panose="020B0604020104020204" pitchFamily="34" charset="0"/>
              </a:rPr>
              <a:t>¿Qué son los valores?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E91772A-3186-D15B-FF96-432DC95A8380}"/>
              </a:ext>
            </a:extLst>
          </p:cNvPr>
          <p:cNvSpPr txBox="1"/>
          <p:nvPr/>
        </p:nvSpPr>
        <p:spPr>
          <a:xfrm>
            <a:off x="6619047" y="3569364"/>
            <a:ext cx="39831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MX" sz="2400" b="0" i="0" dirty="0">
                <a:effectLst/>
                <a:latin typeface="Abadi" panose="020B0604020104020204" pitchFamily="34" charset="0"/>
              </a:rPr>
              <a:t>La palabra valor deriva del latín </a:t>
            </a:r>
            <a:r>
              <a:rPr lang="es-MX" sz="2400" b="0" i="0" dirty="0" err="1">
                <a:effectLst/>
                <a:latin typeface="Abadi" panose="020B0604020104020204" pitchFamily="34" charset="0"/>
              </a:rPr>
              <a:t>valere</a:t>
            </a:r>
            <a:r>
              <a:rPr lang="es-MX" sz="2400" b="0" i="0" dirty="0">
                <a:effectLst/>
                <a:latin typeface="Abadi" panose="020B0604020104020204" pitchFamily="34" charset="0"/>
              </a:rPr>
              <a:t> que significa </a:t>
            </a:r>
            <a:r>
              <a:rPr lang="es-MX" sz="2400" b="1" i="0" dirty="0">
                <a:effectLst/>
                <a:latin typeface="Abadi" panose="020B0604020104020204" pitchFamily="34" charset="0"/>
              </a:rPr>
              <a:t>"ser fuerte“</a:t>
            </a:r>
            <a:r>
              <a:rPr lang="es-MX" sz="2400" dirty="0">
                <a:latin typeface="Abadi" panose="020B0604020104020204" pitchFamily="34" charset="0"/>
              </a:rPr>
              <a:t>. </a:t>
            </a:r>
            <a:endParaRPr lang="es-DO" sz="2400" dirty="0">
              <a:latin typeface="Abadi" panose="020B0604020104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0B688B9-8287-C5CB-A221-BB7CDB4C7A97}"/>
              </a:ext>
            </a:extLst>
          </p:cNvPr>
          <p:cNvSpPr txBox="1"/>
          <p:nvPr/>
        </p:nvSpPr>
        <p:spPr>
          <a:xfrm>
            <a:off x="1453649" y="1771814"/>
            <a:ext cx="9134838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400" b="0" i="0" dirty="0">
                <a:effectLst/>
                <a:latin typeface="Abadi" panose="020B0604020104020204" pitchFamily="34" charset="0"/>
              </a:rPr>
              <a:t>El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concepto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de valor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está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relacionado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con la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cualidad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que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tienen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algunas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realidades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al ser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consideradas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y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estimadas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como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bienes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en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un </a:t>
            </a:r>
            <a:r>
              <a:rPr lang="en-US" sz="2400" b="0" i="0" dirty="0" err="1">
                <a:effectLst/>
                <a:latin typeface="Abadi" panose="020B0604020104020204" pitchFamily="34" charset="0"/>
              </a:rPr>
              <a:t>sentido</a:t>
            </a:r>
            <a:r>
              <a:rPr lang="en-US" sz="2400" b="0" i="0" dirty="0">
                <a:effectLst/>
                <a:latin typeface="Abadi" panose="020B0604020104020204" pitchFamily="34" charset="0"/>
              </a:rPr>
              <a:t> moral.</a:t>
            </a:r>
            <a:endParaRPr lang="en-US" sz="2400" dirty="0">
              <a:latin typeface="Abadi" panose="020B0604020104020204" pitchFamily="34" charset="0"/>
            </a:endParaRPr>
          </a:p>
        </p:txBody>
      </p:sp>
      <p:pic>
        <p:nvPicPr>
          <p:cNvPr id="1026" name="Picture 2" descr="La relación entre los valores y la productividad – Revista Cero Grados">
            <a:extLst>
              <a:ext uri="{FF2B5EF4-FFF2-40B4-BE49-F238E27FC236}">
                <a16:creationId xmlns:a16="http://schemas.microsoft.com/office/drawing/2014/main" id="{8839244B-AAF2-E7F0-3CD0-F549EB9A2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58" y="3429000"/>
            <a:ext cx="4149196" cy="259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67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B045F6-5977-F207-7ADF-C00330F1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A1C75F-0F9D-7D4F-52AD-7BD73A35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63B019-1A5F-2D86-8AFB-55B30F46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7DE234-C145-2AD3-D7C1-ABC2F52E3442}"/>
              </a:ext>
            </a:extLst>
          </p:cNvPr>
          <p:cNvSpPr txBox="1"/>
          <p:nvPr/>
        </p:nvSpPr>
        <p:spPr>
          <a:xfrm>
            <a:off x="7050157" y="1685331"/>
            <a:ext cx="3644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i="0" dirty="0">
                <a:effectLst/>
                <a:latin typeface="Abadi" panose="020B0604020104020204" pitchFamily="34" charset="0"/>
              </a:rPr>
              <a:t>Cualidad que le es conferida a los hechos, cosas o personas ya sea una valoración estética o ética de acuerdo a cada caso y que puede ser negativa o positiva.</a:t>
            </a:r>
            <a:endParaRPr lang="es-DO" sz="2400" dirty="0">
              <a:latin typeface="Abadi" panose="020B06040201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5E371C-58E9-3DCD-317F-37458AC028C8}"/>
              </a:ext>
            </a:extLst>
          </p:cNvPr>
          <p:cNvSpPr txBox="1"/>
          <p:nvPr/>
        </p:nvSpPr>
        <p:spPr>
          <a:xfrm>
            <a:off x="954155" y="645457"/>
            <a:ext cx="3750366" cy="5232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DO" sz="2800" b="1" dirty="0">
                <a:latin typeface="Abadi" panose="020B0604020104020204" pitchFamily="34" charset="0"/>
              </a:rPr>
              <a:t>¿Qué son los valores?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2A0521-145D-2D70-C838-836BF1BE6A43}"/>
              </a:ext>
            </a:extLst>
          </p:cNvPr>
          <p:cNvSpPr txBox="1"/>
          <p:nvPr/>
        </p:nvSpPr>
        <p:spPr>
          <a:xfrm>
            <a:off x="1249017" y="4119663"/>
            <a:ext cx="53108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Abadi" panose="020B0604020104020204" pitchFamily="34" charset="0"/>
              </a:rPr>
              <a:t>El ser humano puede emitir juicios lógicos y racionales sobre las distintas realidades, y al mismo tiempo juicios meta-lógicos sobre las cosas.</a:t>
            </a:r>
            <a:endParaRPr lang="es-DO" sz="2400" dirty="0">
              <a:latin typeface="Abadi" panose="020B0604020104020204" pitchFamily="34" charset="0"/>
            </a:endParaRPr>
          </a:p>
        </p:txBody>
      </p:sp>
      <p:pic>
        <p:nvPicPr>
          <p:cNvPr id="2050" name="Picture 2" descr="EL HOMBRE Y LOS VALORES | Slide Set">
            <a:extLst>
              <a:ext uri="{FF2B5EF4-FFF2-40B4-BE49-F238E27FC236}">
                <a16:creationId xmlns:a16="http://schemas.microsoft.com/office/drawing/2014/main" id="{81ADB83C-2CF3-F75A-B67F-B23D9C67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29" y="1835912"/>
            <a:ext cx="4386471" cy="18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142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28CBAE-6788-58F1-26CD-FA90005E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784AA2-278B-8545-F1F2-B721B70C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AFD470-748C-790E-2D37-8DFE4B39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0D733C-6F26-A25A-DC18-21C7630DAD1C}"/>
              </a:ext>
            </a:extLst>
          </p:cNvPr>
          <p:cNvSpPr txBox="1"/>
          <p:nvPr/>
        </p:nvSpPr>
        <p:spPr>
          <a:xfrm>
            <a:off x="990600" y="668916"/>
            <a:ext cx="100186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Abadi" panose="020B0604020104020204" pitchFamily="34" charset="0"/>
              </a:rPr>
              <a:t>Los valores no existen como realidades separadas de las cosas o del hombre, pues quien hace una valoración de las cosas es el mismo hombre</a:t>
            </a:r>
            <a:endParaRPr lang="es-DO" sz="2400" dirty="0">
              <a:latin typeface="Abadi" panose="020B06040201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D7E55C5-060C-0436-6E42-9C69DEB9FB8D}"/>
              </a:ext>
            </a:extLst>
          </p:cNvPr>
          <p:cNvSpPr txBox="1"/>
          <p:nvPr/>
        </p:nvSpPr>
        <p:spPr>
          <a:xfrm>
            <a:off x="990600" y="2267344"/>
            <a:ext cx="5105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Abadi" panose="020B0604020104020204" pitchFamily="34" charset="0"/>
              </a:rPr>
              <a:t>Todo lo que existe tiene una razón para existir, y en esta razón está su sentido y su valor. </a:t>
            </a:r>
            <a:endParaRPr lang="es-DO" sz="2400" dirty="0">
              <a:latin typeface="Abadi" panose="020B0604020104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D83AB4-7D6F-1237-1C8E-CE34D459FEDC}"/>
              </a:ext>
            </a:extLst>
          </p:cNvPr>
          <p:cNvSpPr txBox="1"/>
          <p:nvPr/>
        </p:nvSpPr>
        <p:spPr>
          <a:xfrm>
            <a:off x="1033669" y="4311847"/>
            <a:ext cx="50623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DO" sz="2400" dirty="0">
                <a:latin typeface="Abadi" panose="020B0604020104020204" pitchFamily="34" charset="0"/>
              </a:rPr>
              <a:t>Llamamos Bien a aquel o aquello que porta valor o valores. </a:t>
            </a:r>
          </a:p>
        </p:txBody>
      </p:sp>
      <p:pic>
        <p:nvPicPr>
          <p:cNvPr id="3076" name="Picture 4" descr="Tipos de valores más importantes que rigen la sociedad │tipos de">
            <a:extLst>
              <a:ext uri="{FF2B5EF4-FFF2-40B4-BE49-F238E27FC236}">
                <a16:creationId xmlns:a16="http://schemas.microsoft.com/office/drawing/2014/main" id="{1F36DB4D-E045-6DA5-0CE6-E0AF6CF73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620" y="2344087"/>
            <a:ext cx="3318629" cy="274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70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1BD68-F1DB-D05C-D675-1D8EC291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73286C-3008-3610-1552-005BF756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038C22-953D-41EC-C718-A22434EC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D28601-0200-04E8-709D-C3F6C76D20E1}"/>
              </a:ext>
            </a:extLst>
          </p:cNvPr>
          <p:cNvSpPr txBox="1"/>
          <p:nvPr/>
        </p:nvSpPr>
        <p:spPr>
          <a:xfrm>
            <a:off x="990600" y="915264"/>
            <a:ext cx="4283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Abadi" panose="020B0604020104020204" pitchFamily="34" charset="0"/>
              </a:rPr>
              <a:t>El valor es aquello por lo cual apreciamos las cosas</a:t>
            </a:r>
            <a:endParaRPr lang="es-DO" sz="2400" dirty="0">
              <a:latin typeface="Abadi" panose="020B06040201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924A23-46C3-7CF8-FA75-2E95229EB30E}"/>
              </a:ext>
            </a:extLst>
          </p:cNvPr>
          <p:cNvSpPr txBox="1"/>
          <p:nvPr/>
        </p:nvSpPr>
        <p:spPr>
          <a:xfrm>
            <a:off x="6685722" y="3794158"/>
            <a:ext cx="43699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Abadi" panose="020B0604020104020204" pitchFamily="34" charset="0"/>
              </a:rPr>
              <a:t>El valor brota de la relación dinámica entre sujeto-objeto, conciencia-realidad, estimación-ideal. </a:t>
            </a:r>
            <a:endParaRPr lang="es-DO" sz="2400" dirty="0">
              <a:latin typeface="Abadi" panose="020B0604020104020204" pitchFamily="34" charset="0"/>
            </a:endParaRPr>
          </a:p>
        </p:txBody>
      </p:sp>
      <p:pic>
        <p:nvPicPr>
          <p:cNvPr id="4098" name="Picture 2" descr="REFLEXIÓN DE TAREA">
            <a:extLst>
              <a:ext uri="{FF2B5EF4-FFF2-40B4-BE49-F238E27FC236}">
                <a16:creationId xmlns:a16="http://schemas.microsoft.com/office/drawing/2014/main" id="{755EED36-08A0-194C-3816-2242A3733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602" y="2448132"/>
            <a:ext cx="3223591" cy="322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ensar en una idea- una ilustración de una persona pensar en una idea  Imagen Vector de stock - Alamy">
            <a:extLst>
              <a:ext uri="{FF2B5EF4-FFF2-40B4-BE49-F238E27FC236}">
                <a16:creationId xmlns:a16="http://schemas.microsoft.com/office/drawing/2014/main" id="{37A7E8EF-9866-7D2A-A85F-BE2AB3C45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317" y="1108375"/>
            <a:ext cx="2827581" cy="201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92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D1181C-D9FA-2357-BD46-998FDE99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361F9B-6C33-70CD-D34E-919BD304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0CCEE8-4ABD-A94E-788E-EAA63528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C7C44F-B2F9-BD63-AC0B-BB5DFDB43B02}"/>
              </a:ext>
            </a:extLst>
          </p:cNvPr>
          <p:cNvSpPr txBox="1"/>
          <p:nvPr/>
        </p:nvSpPr>
        <p:spPr>
          <a:xfrm>
            <a:off x="990600" y="591235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El valor es entonces:</a:t>
            </a:r>
            <a:endParaRPr lang="es-DO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70D643-7EB3-034B-5D5D-2D6F4BBDF3ED}"/>
              </a:ext>
            </a:extLst>
          </p:cNvPr>
          <p:cNvSpPr txBox="1"/>
          <p:nvPr/>
        </p:nvSpPr>
        <p:spPr>
          <a:xfrm>
            <a:off x="1825486" y="1803623"/>
            <a:ext cx="2985053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400" dirty="0">
                <a:latin typeface="Calibri" panose="020F0502020204030204" pitchFamily="34" charset="0"/>
                <a:cs typeface="Calibri" panose="020F0502020204030204" pitchFamily="34" charset="0"/>
              </a:rPr>
              <a:t>Estable y Permanente </a:t>
            </a:r>
            <a:endParaRPr lang="es-DO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EBC3EF-F2F0-48A4-C693-647489C54A41}"/>
              </a:ext>
            </a:extLst>
          </p:cNvPr>
          <p:cNvSpPr txBox="1"/>
          <p:nvPr/>
        </p:nvSpPr>
        <p:spPr>
          <a:xfrm>
            <a:off x="1825486" y="3000705"/>
            <a:ext cx="298505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400" dirty="0"/>
              <a:t>Objetivo y Universal</a:t>
            </a:r>
            <a:endParaRPr lang="es-DO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F3EAD9-CBD2-95E1-94CD-6B8956CD46AF}"/>
              </a:ext>
            </a:extLst>
          </p:cNvPr>
          <p:cNvSpPr txBox="1"/>
          <p:nvPr/>
        </p:nvSpPr>
        <p:spPr>
          <a:xfrm>
            <a:off x="1825487" y="4197787"/>
            <a:ext cx="298505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400" dirty="0"/>
              <a:t>Dinámico y Cambiante</a:t>
            </a:r>
            <a:endParaRPr lang="es-DO" sz="2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E852860-FE48-382E-7CFE-0A9E607C8781}"/>
              </a:ext>
            </a:extLst>
          </p:cNvPr>
          <p:cNvSpPr txBox="1"/>
          <p:nvPr/>
        </p:nvSpPr>
        <p:spPr>
          <a:xfrm>
            <a:off x="1825487" y="5277068"/>
            <a:ext cx="298505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400" dirty="0"/>
              <a:t>Relativo y Subjetivo </a:t>
            </a:r>
            <a:endParaRPr lang="es-DO" sz="2400" dirty="0"/>
          </a:p>
        </p:txBody>
      </p:sp>
      <p:pic>
        <p:nvPicPr>
          <p:cNvPr id="5122" name="Picture 2" descr="Valores. ¿Qué son y porqué son importantes en nuestra vida? » Existencia  Poderosa">
            <a:extLst>
              <a:ext uri="{FF2B5EF4-FFF2-40B4-BE49-F238E27FC236}">
                <a16:creationId xmlns:a16="http://schemas.microsoft.com/office/drawing/2014/main" id="{9C3FE295-D968-769B-F707-B8222DD25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8668">
            <a:off x="8385663" y="1366536"/>
            <a:ext cx="2554123" cy="2208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Valores Humanos: Valores Materiales">
            <a:extLst>
              <a:ext uri="{FF2B5EF4-FFF2-40B4-BE49-F238E27FC236}">
                <a16:creationId xmlns:a16="http://schemas.microsoft.com/office/drawing/2014/main" id="{7E81AE83-B3CB-E833-8448-8296C902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86346">
            <a:off x="8305382" y="4007896"/>
            <a:ext cx="2554124" cy="160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Valores materiales - mantilla vargas danna yineth">
            <a:extLst>
              <a:ext uri="{FF2B5EF4-FFF2-40B4-BE49-F238E27FC236}">
                <a16:creationId xmlns:a16="http://schemas.microsoft.com/office/drawing/2014/main" id="{CC6FCDCB-5163-ED9E-2F6D-768E4FCC3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431">
            <a:off x="5855461" y="3426772"/>
            <a:ext cx="2312154" cy="160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VALORES: VALORES MATERIALES">
            <a:extLst>
              <a:ext uri="{FF2B5EF4-FFF2-40B4-BE49-F238E27FC236}">
                <a16:creationId xmlns:a16="http://schemas.microsoft.com/office/drawing/2014/main" id="{ED96917B-F720-A41B-309A-183EBAD77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80311">
            <a:off x="5790002" y="1373556"/>
            <a:ext cx="2271516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56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C2815-7B9E-1408-752C-CCDD34BB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E0A3FF-D20A-8BAA-CC04-5532A00E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47D762-D836-60B1-E83D-F1939ADC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7ABB1C-27F9-AE27-F31B-7ACD50C0B4E3}"/>
              </a:ext>
            </a:extLst>
          </p:cNvPr>
          <p:cNvSpPr txBox="1"/>
          <p:nvPr/>
        </p:nvSpPr>
        <p:spPr>
          <a:xfrm>
            <a:off x="990600" y="729734"/>
            <a:ext cx="4906617" cy="5232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MX" sz="2800" b="1" dirty="0"/>
              <a:t>La interiorización de los valores</a:t>
            </a:r>
            <a:endParaRPr lang="es-DO" sz="28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0D5CE2-67E0-E275-4BA6-12D4578D95C0}"/>
              </a:ext>
            </a:extLst>
          </p:cNvPr>
          <p:cNvSpPr txBox="1"/>
          <p:nvPr/>
        </p:nvSpPr>
        <p:spPr>
          <a:xfrm>
            <a:off x="1055205" y="1771975"/>
            <a:ext cx="100815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Los valores nacen con el mismo hombre, pues éste es quien hace una valoración de las cosas y establece un orden jerárquico entre los bienes que le solicitan y entre los bienes a que aspira. </a:t>
            </a:r>
            <a:endParaRPr lang="es-DO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D209FD2-3A25-B144-D1FA-73BB519145F0}"/>
              </a:ext>
            </a:extLst>
          </p:cNvPr>
          <p:cNvSpPr txBox="1"/>
          <p:nvPr/>
        </p:nvSpPr>
        <p:spPr>
          <a:xfrm>
            <a:off x="1055205" y="3285532"/>
            <a:ext cx="10081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El hombre tiene la capacidad de sacrificar una serie de valores en la sociedad por otros valores considerados más sublimes</a:t>
            </a:r>
            <a:endParaRPr lang="es-DO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87C6EAE-DCE9-EA09-6FE7-391442419A90}"/>
              </a:ext>
            </a:extLst>
          </p:cNvPr>
          <p:cNvSpPr txBox="1"/>
          <p:nvPr/>
        </p:nvSpPr>
        <p:spPr>
          <a:xfrm>
            <a:off x="4855264" y="450423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“…el dinero debe servir a la persona y no la persona al dinero”</a:t>
            </a:r>
            <a:endParaRPr lang="es-DO" sz="20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BEA7BE4-B471-2B0B-B694-5DA2E944F99A}"/>
              </a:ext>
            </a:extLst>
          </p:cNvPr>
          <p:cNvSpPr txBox="1"/>
          <p:nvPr/>
        </p:nvSpPr>
        <p:spPr>
          <a:xfrm>
            <a:off x="2009361" y="5034673"/>
            <a:ext cx="1916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dirty="0"/>
              <a:t>Por ejemplo: </a:t>
            </a:r>
            <a:endParaRPr lang="es-DO" sz="20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136B9EB-8BD3-FDB8-8E25-CC52BE69D162}"/>
              </a:ext>
            </a:extLst>
          </p:cNvPr>
          <p:cNvSpPr txBox="1"/>
          <p:nvPr/>
        </p:nvSpPr>
        <p:spPr>
          <a:xfrm>
            <a:off x="4760843" y="527666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“se puede renunciar a la propia comodidad para dar un minuto de felicidad a alguien”</a:t>
            </a:r>
            <a:endParaRPr lang="es-DO" sz="2000" dirty="0"/>
          </a:p>
        </p:txBody>
      </p:sp>
    </p:spTree>
    <p:extLst>
      <p:ext uri="{BB962C8B-B14F-4D97-AF65-F5344CB8AC3E}">
        <p14:creationId xmlns:p14="http://schemas.microsoft.com/office/powerpoint/2010/main" val="196980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253578-1ED2-68A6-12A5-CB10CBFA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395DD8-5622-0E17-2406-FE4F603C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577CC7-6F0A-A529-0CC0-25DF78E5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7F10FE-251A-56D7-F163-F3903D9237B8}"/>
              </a:ext>
            </a:extLst>
          </p:cNvPr>
          <p:cNvSpPr txBox="1"/>
          <p:nvPr/>
        </p:nvSpPr>
        <p:spPr>
          <a:xfrm>
            <a:off x="1288774" y="1002052"/>
            <a:ext cx="50060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En cada ser humano reside el poder de decisión sobre los valores que regirán su vida, los cuales indicarán el grado de formación y educación de cada persona</a:t>
            </a:r>
            <a:endParaRPr lang="es-DO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807F4C-9736-B2CF-FF1D-93CF8C7079EE}"/>
              </a:ext>
            </a:extLst>
          </p:cNvPr>
          <p:cNvSpPr txBox="1"/>
          <p:nvPr/>
        </p:nvSpPr>
        <p:spPr>
          <a:xfrm>
            <a:off x="5650395" y="3753038"/>
            <a:ext cx="50060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De </a:t>
            </a:r>
            <a:r>
              <a:rPr lang="es-MX" sz="2400" dirty="0" err="1"/>
              <a:t>ahi</a:t>
            </a:r>
            <a:r>
              <a:rPr lang="es-MX" sz="2400" dirty="0"/>
              <a:t> la importancia capital de la enseñanza de los valores, pues los mismos son los que dan dirección y sentido a las decisiones, acciones y a la vida de cada ser humano</a:t>
            </a:r>
            <a:endParaRPr lang="es-DO" sz="2400" dirty="0"/>
          </a:p>
        </p:txBody>
      </p:sp>
      <p:pic>
        <p:nvPicPr>
          <p:cNvPr id="6146" name="Picture 2" descr="Hombre De Negocios Haciendo Decisión Correcta Ilustraciones Svg,  Vectoriales, Clip Art Vectorizado Libre De Derechos. Image 44519851.">
            <a:extLst>
              <a:ext uri="{FF2B5EF4-FFF2-40B4-BE49-F238E27FC236}">
                <a16:creationId xmlns:a16="http://schemas.microsoft.com/office/drawing/2014/main" id="{A65C3347-5190-C4D8-7645-902FF2246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321" y="3429000"/>
            <a:ext cx="2269435" cy="230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lave para tomar la decisión correcta - Recursos Humanos, el Portal del  Capital Humano | Guía Empresas Recursos Humanos">
            <a:extLst>
              <a:ext uri="{FF2B5EF4-FFF2-40B4-BE49-F238E27FC236}">
                <a16:creationId xmlns:a16="http://schemas.microsoft.com/office/drawing/2014/main" id="{14F91057-5636-7616-D37E-B1ED7F76E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906" y="1274456"/>
            <a:ext cx="2800988" cy="166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17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9BE599-1F05-92B0-B733-839105CB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A57F-793F-4683-BD8A-741FD4B89154}" type="datetime1">
              <a:rPr lang="en-US" smtClean="0"/>
              <a:t>1/23/2023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01375D-AE20-19DC-1C7B-78824F68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CE64C6-FFF5-BEF2-1681-A878E779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F7EEF70-B93C-EE49-CDDA-5390590C9071}"/>
              </a:ext>
            </a:extLst>
          </p:cNvPr>
          <p:cNvSpPr txBox="1"/>
          <p:nvPr/>
        </p:nvSpPr>
        <p:spPr>
          <a:xfrm>
            <a:off x="1046923" y="610465"/>
            <a:ext cx="4465982" cy="5232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DO" sz="2800" b="1" dirty="0"/>
              <a:t>Funcionalidad de los valores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304EA22-06DA-50B1-3341-A49DFB3BAB7C}"/>
              </a:ext>
            </a:extLst>
          </p:cNvPr>
          <p:cNvSpPr txBox="1"/>
          <p:nvPr/>
        </p:nvSpPr>
        <p:spPr>
          <a:xfrm>
            <a:off x="1355034" y="1492469"/>
            <a:ext cx="9998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Los valores llevan dentro de sí una funcionalidad </a:t>
            </a:r>
            <a:r>
              <a:rPr lang="es-DO" sz="2400" dirty="0"/>
              <a:t>a partir de las necesidades humanas, físicas, intelectuales y relacionales.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F19CEE-C4E5-0BA5-3434-60DBA8B5B826}"/>
              </a:ext>
            </a:extLst>
          </p:cNvPr>
          <p:cNvSpPr txBox="1"/>
          <p:nvPr/>
        </p:nvSpPr>
        <p:spPr>
          <a:xfrm>
            <a:off x="2514600" y="268225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Por ejemplo:</a:t>
            </a:r>
          </a:p>
          <a:p>
            <a:endParaRPr lang="es-MX" sz="2400" dirty="0"/>
          </a:p>
          <a:p>
            <a:r>
              <a:rPr lang="es-MX" sz="2400" dirty="0"/>
              <a:t>Un pedazo de pan y un vaso de agua</a:t>
            </a:r>
            <a:endParaRPr lang="es-DO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71B0494-48DD-EB5E-4A96-7B6FF4A48FAF}"/>
              </a:ext>
            </a:extLst>
          </p:cNvPr>
          <p:cNvSpPr txBox="1"/>
          <p:nvPr/>
        </p:nvSpPr>
        <p:spPr>
          <a:xfrm>
            <a:off x="1355033" y="4415085"/>
            <a:ext cx="99987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Esto significa que la valoración que hacemos de las cosas no la efectuamos con la sola razón, sino con el sentimiento, las actitudes, las obras, con todo nuestro ser.</a:t>
            </a:r>
            <a:endParaRPr lang="es-DO" sz="2400" dirty="0"/>
          </a:p>
        </p:txBody>
      </p:sp>
    </p:spTree>
    <p:extLst>
      <p:ext uri="{BB962C8B-B14F-4D97-AF65-F5344CB8AC3E}">
        <p14:creationId xmlns:p14="http://schemas.microsoft.com/office/powerpoint/2010/main" val="49493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Ensayo: &quot;EL MUNDO DE LOS VALORES&quot;">
            <a:extLst>
              <a:ext uri="{FF2B5EF4-FFF2-40B4-BE49-F238E27FC236}">
                <a16:creationId xmlns:a16="http://schemas.microsoft.com/office/drawing/2014/main" id="{8DCE87CE-D9C4-0AE6-9ACA-56C418187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35"/>
          <a:stretch/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759067D-A2D4-F74E-047B-EA3673780B2F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“El </a:t>
            </a:r>
            <a:r>
              <a:rPr lang="en-US" sz="2400" dirty="0" err="1"/>
              <a:t>mundo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constituye</a:t>
            </a:r>
            <a:r>
              <a:rPr lang="en-US" sz="2400" dirty="0"/>
              <a:t> la </a:t>
            </a:r>
            <a:r>
              <a:rPr lang="en-US" sz="2400" dirty="0" err="1"/>
              <a:t>puerta</a:t>
            </a:r>
            <a:r>
              <a:rPr lang="en-US" sz="2400" dirty="0"/>
              <a:t> de entrada al </a:t>
            </a:r>
            <a:r>
              <a:rPr lang="en-US" sz="2400" dirty="0" err="1"/>
              <a:t>mundo</a:t>
            </a:r>
            <a:r>
              <a:rPr lang="en-US" sz="2400" dirty="0"/>
              <a:t> de la </a:t>
            </a:r>
            <a:r>
              <a:rPr lang="en-US" sz="2400" dirty="0" err="1"/>
              <a:t>trascendencia</a:t>
            </a:r>
            <a:r>
              <a:rPr lang="en-US" sz="2400" dirty="0"/>
              <a:t>, </a:t>
            </a:r>
            <a:r>
              <a:rPr lang="en-US" sz="2400" dirty="0" err="1"/>
              <a:t>puesto</a:t>
            </a:r>
            <a:r>
              <a:rPr lang="en-US" sz="2400" dirty="0"/>
              <a:t> que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pueden</a:t>
            </a:r>
            <a:r>
              <a:rPr lang="en-US" sz="2400" dirty="0"/>
              <a:t> </a:t>
            </a:r>
            <a:r>
              <a:rPr lang="en-US" sz="2400" dirty="0" err="1"/>
              <a:t>hacer</a:t>
            </a:r>
            <a:r>
              <a:rPr lang="en-US" sz="2400" dirty="0"/>
              <a:t> </a:t>
            </a:r>
            <a:r>
              <a:rPr lang="en-US" sz="2400" dirty="0" err="1"/>
              <a:t>referencia</a:t>
            </a:r>
            <a:r>
              <a:rPr lang="en-US" sz="2400" dirty="0"/>
              <a:t> a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realidad</a:t>
            </a:r>
            <a:r>
              <a:rPr lang="en-US" sz="2400" dirty="0"/>
              <a:t> </a:t>
            </a:r>
            <a:r>
              <a:rPr lang="en-US" sz="2400" dirty="0" err="1"/>
              <a:t>metaempírica</a:t>
            </a:r>
            <a:r>
              <a:rPr lang="en-US" sz="2400" dirty="0"/>
              <a:t> (</a:t>
            </a:r>
            <a:r>
              <a:rPr lang="en-US" sz="2400" dirty="0" err="1"/>
              <a:t>realidad</a:t>
            </a:r>
            <a:r>
              <a:rPr lang="en-US" sz="2400" dirty="0"/>
              <a:t> no </a:t>
            </a:r>
            <a:r>
              <a:rPr lang="en-US" sz="2400" dirty="0" err="1"/>
              <a:t>verificable</a:t>
            </a:r>
            <a:r>
              <a:rPr lang="en-US" sz="2400" dirty="0"/>
              <a:t>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sentidos</a:t>
            </a:r>
            <a:r>
              <a:rPr lang="en-US" sz="2400" dirty="0"/>
              <a:t>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la </a:t>
            </a:r>
            <a:r>
              <a:rPr lang="en-US" sz="2400" dirty="0" err="1"/>
              <a:t>lógica</a:t>
            </a:r>
            <a:r>
              <a:rPr lang="en-US" sz="2400" dirty="0"/>
              <a:t> de la </a:t>
            </a:r>
            <a:r>
              <a:rPr lang="en-US" sz="2400" dirty="0" err="1"/>
              <a:t>razón</a:t>
            </a:r>
            <a:r>
              <a:rPr lang="en-US" sz="2400" dirty="0"/>
              <a:t>)”. TIERNO, </a:t>
            </a:r>
            <a:r>
              <a:rPr lang="en-US" sz="2400" dirty="0" err="1"/>
              <a:t>Bernabé</a:t>
            </a:r>
            <a:r>
              <a:rPr lang="en-US" sz="2400" dirty="0"/>
              <a:t>.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4B3D7C-B5A3-0F46-9A85-E6902B27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CFBEA57F-793F-4683-BD8A-741FD4B89154}" type="datetime1">
              <a:rPr lang="en-US" sz="10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1/23/2023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C457AB-F4AD-9E23-5CBD-9361E0FA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sz="10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F141B-4BA8-058B-E41B-8BE66F43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1D2C36F-4504-47C0-B82F-A167342A2754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43757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513</Words>
  <Application>Microsoft Office PowerPoint</Application>
  <PresentationFormat>Panorámica</PresentationFormat>
  <Paragraphs>51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Tema de Office</vt:lpstr>
      <vt:lpstr>Concepto de 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 de  Valor</dc:title>
  <dc:creator>Israel  Peralta Bonifacio</dc:creator>
  <cp:lastModifiedBy>Israel  Peralta Bonifacio</cp:lastModifiedBy>
  <cp:revision>1</cp:revision>
  <dcterms:created xsi:type="dcterms:W3CDTF">2023-01-23T15:33:17Z</dcterms:created>
  <dcterms:modified xsi:type="dcterms:W3CDTF">2023-01-23T18:03:09Z</dcterms:modified>
</cp:coreProperties>
</file>